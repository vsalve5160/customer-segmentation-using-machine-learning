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94" r:id="rId20"/>
    <p:sldId id="295" r:id="rId21"/>
    <p:sldId id="296" r:id="rId22"/>
    <p:sldId id="28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06FE3-5F91-42A8-A69F-722796B1A08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9DFA5-E34B-4A57-9F7A-8D830F856A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64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FD4FE-30CD-4405-BC63-1CF8B21B80F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6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15E6C-F913-2904-5037-8F4360F91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  <a:cs typeface="Times New Roman" panose="02020603050405020304" pitchFamily="18" charset="0"/>
              </a:rPr>
              <a:t>Project: CLUSTERING</a:t>
            </a:r>
            <a:endParaRPr lang="en-IN" dirty="0"/>
          </a:p>
        </p:txBody>
      </p:sp>
      <p:pic>
        <p:nvPicPr>
          <p:cNvPr id="4" name="Google Shape;250;p1" descr="A close up of a sign">
            <a:extLst>
              <a:ext uri="{FF2B5EF4-FFF2-40B4-BE49-F238E27FC236}">
                <a16:creationId xmlns:a16="http://schemas.microsoft.com/office/drawing/2014/main" id="{FCC16719-66C8-C4B2-B05D-A2720BB3603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2012" y="481782"/>
            <a:ext cx="4162379" cy="903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52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51A-E7B4-A322-08F8-6DF59CB5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Arial Black" panose="020B0A04020102020204" pitchFamily="34" charset="0"/>
                <a:cs typeface="Times New Roman" panose="02020603050405020304" pitchFamily="18" charset="0"/>
              </a:rPr>
              <a:t>OBJECTIVE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A0C76-048A-6FAD-FA9B-F32DDEA0CB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55700" y="2603500"/>
            <a:ext cx="8824913" cy="282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gency FB" panose="020B0503020202020204" pitchFamily="34" charset="0"/>
              </a:rPr>
              <a:t>To analyze customer demographic and behavioral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gency FB" panose="020B0503020202020204" pitchFamily="34" charset="0"/>
              </a:rPr>
              <a:t>To identify distinct customer segments using clustering techniques.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gency FB" panose="020B0503020202020204" pitchFamily="34" charset="0"/>
              </a:rPr>
              <a:t>To understand purchasing patterns across different customer groups.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gency FB" panose="020B0503020202020204" pitchFamily="34" charset="0"/>
              </a:rPr>
              <a:t>To determine which customer segments are most responsive to marketing campaigns.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gency FB" panose="020B0503020202020204" pitchFamily="34" charset="0"/>
              </a:rPr>
              <a:t>To support targeted marketing and personalized product strategies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861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8B48-E7E4-5006-0D77-ED83949F2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61" y="1236406"/>
            <a:ext cx="3525200" cy="2598174"/>
          </a:xfrm>
        </p:spPr>
        <p:txBody>
          <a:bodyPr/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DATASET DETAILS</a:t>
            </a:r>
            <a:b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</a:b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37D7D-849F-85E5-21E0-E37048047E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781675" y="1238245"/>
            <a:ext cx="5189538" cy="4991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</a:rPr>
              <a:t>Dataset Details – Customer Personality Analysis</a:t>
            </a:r>
          </a:p>
          <a:p>
            <a:endParaRPr lang="en-US" b="1" dirty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r>
              <a:rPr lang="en-US" sz="1400" b="1" dirty="0"/>
              <a:t>People (Customer Information)</a:t>
            </a:r>
            <a:endParaRPr lang="en-US" sz="1400" dirty="0"/>
          </a:p>
          <a:p>
            <a:r>
              <a:rPr lang="en-US" sz="1400" b="1" dirty="0"/>
              <a:t>ID:</a:t>
            </a:r>
            <a:r>
              <a:rPr lang="en-US" sz="1400" dirty="0"/>
              <a:t> Unique customer identifier</a:t>
            </a:r>
          </a:p>
          <a:p>
            <a:r>
              <a:rPr lang="en-US" sz="1400" b="1" dirty="0" err="1"/>
              <a:t>Year_Birth</a:t>
            </a:r>
            <a:r>
              <a:rPr lang="en-US" sz="1400" b="1" dirty="0"/>
              <a:t>:</a:t>
            </a:r>
            <a:r>
              <a:rPr lang="en-US" sz="1400" dirty="0"/>
              <a:t> Customer’s birth year</a:t>
            </a:r>
          </a:p>
          <a:p>
            <a:r>
              <a:rPr lang="en-US" sz="1400" b="1" dirty="0"/>
              <a:t>Education:</a:t>
            </a:r>
            <a:r>
              <a:rPr lang="en-US" sz="1400" dirty="0"/>
              <a:t> Education level</a:t>
            </a:r>
          </a:p>
          <a:p>
            <a:r>
              <a:rPr lang="en-US" sz="1400" b="1" dirty="0" err="1"/>
              <a:t>Marital_Status</a:t>
            </a:r>
            <a:r>
              <a:rPr lang="en-US" sz="1400" b="1" dirty="0"/>
              <a:t>:</a:t>
            </a:r>
            <a:r>
              <a:rPr lang="en-US" sz="1400" dirty="0"/>
              <a:t> Marital status</a:t>
            </a:r>
          </a:p>
          <a:p>
            <a:r>
              <a:rPr lang="en-US" sz="1400" b="1" dirty="0"/>
              <a:t>Income:</a:t>
            </a:r>
            <a:r>
              <a:rPr lang="en-US" sz="1400" dirty="0"/>
              <a:t> Yearly household income</a:t>
            </a:r>
          </a:p>
          <a:p>
            <a:r>
              <a:rPr lang="en-US" sz="1400" b="1" dirty="0" err="1"/>
              <a:t>Kidhome</a:t>
            </a:r>
            <a:r>
              <a:rPr lang="en-US" sz="1400" b="1" dirty="0"/>
              <a:t>:</a:t>
            </a:r>
            <a:r>
              <a:rPr lang="en-US" sz="1400" dirty="0"/>
              <a:t> Number of children in the household</a:t>
            </a:r>
          </a:p>
          <a:p>
            <a:r>
              <a:rPr lang="en-US" sz="1400" b="1" dirty="0" err="1"/>
              <a:t>Teenhome</a:t>
            </a:r>
            <a:r>
              <a:rPr lang="en-US" sz="1400" b="1" dirty="0"/>
              <a:t>:</a:t>
            </a:r>
            <a:r>
              <a:rPr lang="en-US" sz="1400" dirty="0"/>
              <a:t> Number of teenagers in the household</a:t>
            </a:r>
          </a:p>
          <a:p>
            <a:r>
              <a:rPr lang="en-US" sz="1400" b="1" dirty="0" err="1"/>
              <a:t>Dt_Customer</a:t>
            </a:r>
            <a:r>
              <a:rPr lang="en-US" sz="1400" b="1" dirty="0"/>
              <a:t>:</a:t>
            </a:r>
            <a:r>
              <a:rPr lang="en-US" sz="1400" dirty="0"/>
              <a:t> Date of enrollment with the company</a:t>
            </a:r>
          </a:p>
          <a:p>
            <a:r>
              <a:rPr lang="en-US" sz="1400" b="1" dirty="0"/>
              <a:t>Recency:</a:t>
            </a:r>
            <a:r>
              <a:rPr lang="en-US" sz="1400" dirty="0"/>
              <a:t> Days since last purchase</a:t>
            </a:r>
          </a:p>
          <a:p>
            <a:r>
              <a:rPr lang="en-US" sz="1400" b="1" dirty="0"/>
              <a:t>Complain:</a:t>
            </a:r>
            <a:r>
              <a:rPr lang="en-US" sz="1400" dirty="0"/>
              <a:t> Customer complaint status (1 = Yes, 0 =No)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75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E9DB7-252E-2C53-4009-D2B974061816}"/>
              </a:ext>
            </a:extLst>
          </p:cNvPr>
          <p:cNvSpPr txBox="1"/>
          <p:nvPr/>
        </p:nvSpPr>
        <p:spPr>
          <a:xfrm>
            <a:off x="137885" y="474345"/>
            <a:ext cx="9340411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</a:rPr>
              <a:t>Products (Spending Behavior – Last 2 Years)</a:t>
            </a:r>
          </a:p>
          <a:p>
            <a:pPr defTabSz="914400"/>
            <a:endParaRPr lang="en-US" sz="2000" dirty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MntWines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Amount spent on wines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MntFruits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Amount spent on fruits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MntMeatProducts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Amount spent on meat products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MntFishProducts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Amount spent on fish products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MntSweetProducts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Amount spent on sweets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MntGoldProds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Amount spent on gold products</a:t>
            </a:r>
          </a:p>
          <a:p>
            <a:pPr defTabSz="914400"/>
            <a:endParaRPr lang="en-US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defTabSz="914400"/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Promotion (Marketing Campaign Response)</a:t>
            </a:r>
            <a:endParaRPr lang="en-US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NumDealsPurchases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Purchases made using discounts</a:t>
            </a:r>
          </a:p>
          <a:p>
            <a:pPr defTabSz="914400"/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AcceptedCmp1–AcceptedCmp5: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Acceptance of previous campaigns (1 = Yes, 0 = No)</a:t>
            </a:r>
          </a:p>
          <a:p>
            <a:pPr defTabSz="914400"/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Response: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Acceptance of the most recent campaign</a:t>
            </a:r>
          </a:p>
          <a:p>
            <a:pPr defTabSz="914400"/>
            <a:endParaRPr lang="en-US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defTabSz="914400"/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Place (Purchase Channels)</a:t>
            </a:r>
            <a:endParaRPr lang="en-US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NumWebPurchases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Website purchases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NumCatalogPurchases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Catalogue purchases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NumStorePurchases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In-store purchases</a:t>
            </a:r>
          </a:p>
          <a:p>
            <a:pPr defTabSz="914400"/>
            <a:r>
              <a:rPr lang="en-US" b="1" dirty="0" err="1">
                <a:solidFill>
                  <a:prstClr val="black"/>
                </a:solidFill>
                <a:latin typeface="Arial Narrow" panose="020B0606020202030204" pitchFamily="34" charset="0"/>
              </a:rPr>
              <a:t>NumWebVisitsMonth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: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Website visits per month</a:t>
            </a:r>
          </a:p>
          <a:p>
            <a:pPr defTabSz="914400"/>
            <a:endParaRPr lang="en-US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defTabSz="914400"/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Target</a:t>
            </a:r>
            <a:endParaRPr lang="en-US" dirty="0">
              <a:solidFill>
                <a:prstClr val="black"/>
              </a:solidFill>
              <a:latin typeface="Arial Narrow" panose="020B0606020202030204" pitchFamily="34" charset="0"/>
            </a:endParaRPr>
          </a:p>
          <a:p>
            <a:pPr defTabSz="914400"/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Perform </a:t>
            </a:r>
            <a:r>
              <a:rPr lang="en-US" b="1" dirty="0">
                <a:solidFill>
                  <a:prstClr val="black"/>
                </a:solidFill>
                <a:latin typeface="Arial Narrow" panose="020B0606020202030204" pitchFamily="34" charset="0"/>
              </a:rPr>
              <a:t>customer clustering</a:t>
            </a:r>
            <a:r>
              <a:rPr lang="en-US" dirty="0">
                <a:solidFill>
                  <a:prstClr val="black"/>
                </a:solidFill>
                <a:latin typeface="Arial Narrow" panose="020B0606020202030204" pitchFamily="34" charset="0"/>
              </a:rPr>
              <a:t> to identify and summarize distinct customer segments</a:t>
            </a:r>
            <a:r>
              <a:rPr lang="en-US" sz="2000" dirty="0">
                <a:solidFill>
                  <a:prstClr val="black"/>
                </a:solidFill>
                <a:latin typeface="Agency FB" panose="020B05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457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06E2C0-186E-DFDC-C6DB-C8622D7EF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789547"/>
            <a:ext cx="9724103" cy="6068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C9D2B-A619-DA8A-CB45-B9CE712B2FFB}"/>
              </a:ext>
            </a:extLst>
          </p:cNvPr>
          <p:cNvSpPr txBox="1"/>
          <p:nvPr/>
        </p:nvSpPr>
        <p:spPr>
          <a:xfrm>
            <a:off x="2241754" y="113354"/>
            <a:ext cx="8062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Digramatic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 Representation of Correlation</a:t>
            </a:r>
            <a:endParaRPr lang="en-IN" sz="2800" b="1" dirty="0">
              <a:solidFill>
                <a:schemeClr val="accent6">
                  <a:lumMod val="50000"/>
                </a:schemeClr>
              </a:solidFill>
              <a:latin typeface="Agency FB" panose="020B0503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9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86A9-3DA0-B740-7301-01094590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376516"/>
            <a:ext cx="8761413" cy="127820"/>
          </a:xfrm>
        </p:spPr>
        <p:txBody>
          <a:bodyPr/>
          <a:lstStyle/>
          <a:p>
            <a:r>
              <a:rPr lang="en-US" sz="4000" b="1" dirty="0">
                <a:latin typeface="Agency FB" panose="020B0503020202020204" pitchFamily="34" charset="0"/>
                <a:cs typeface="Times New Roman" panose="02020603050405020304" pitchFamily="18" charset="0"/>
              </a:rPr>
              <a:t>CORRELATION</a:t>
            </a:r>
            <a:br>
              <a:rPr lang="en-IN" sz="4000" b="1" dirty="0">
                <a:latin typeface="Agency FB" panose="020B0503020202020204" pitchFamily="34" charset="0"/>
                <a:cs typeface="Times New Roman" panose="02020603050405020304" pitchFamily="18" charset="0"/>
              </a:rPr>
            </a:br>
            <a:endParaRPr lang="en-IN" sz="4000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A93CC-DF95-8B21-27B8-CAEE659AF3BE}"/>
              </a:ext>
            </a:extLst>
          </p:cNvPr>
          <p:cNvSpPr txBox="1"/>
          <p:nvPr/>
        </p:nvSpPr>
        <p:spPr>
          <a:xfrm>
            <a:off x="511277" y="2369574"/>
            <a:ext cx="1039269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Customers with higher income usually spend more on products.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If a customer buys more of one product, they often buy more of other products too.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Customers with children or teenagers tend to spend less.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Customers who bought recently are more active buyers.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Customers who shop through multiple channels (online, store, catalog) are more valuable.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Visiting the website many times does not always mean more purchases.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Customers who spend more are more likely to accept marketing offers.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Complaints do not strongly affect customer buying behavior.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Overall:</a:t>
            </a:r>
            <a:br>
              <a:rPr lang="en-US" sz="2000" dirty="0">
                <a:latin typeface="Arial Narrow" panose="020B0606020202030204" pitchFamily="34" charset="0"/>
              </a:rPr>
            </a:br>
            <a:r>
              <a:rPr lang="en-US" sz="2000" dirty="0">
                <a:latin typeface="Arial Narrow" panose="020B0606020202030204" pitchFamily="34" charset="0"/>
              </a:rPr>
              <a:t>Correlation analysis helps the company understand customer behavior and choose the right customers for targeted marketing and clustering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52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BB78C5-1E3E-EB22-5939-2F73DC1B912C}"/>
              </a:ext>
            </a:extLst>
          </p:cNvPr>
          <p:cNvSpPr/>
          <p:nvPr/>
        </p:nvSpPr>
        <p:spPr>
          <a:xfrm>
            <a:off x="294968" y="186813"/>
            <a:ext cx="7629831" cy="50144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Data Visualization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EE725A6-9775-385D-DA78-1C0D2C52C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877" y="924232"/>
            <a:ext cx="9645445" cy="570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962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ED4862-ED88-3DA8-03C4-408DE0F1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1081547"/>
            <a:ext cx="5191432" cy="5112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ACDFAD-F6BB-7D64-9180-F8D55990D993}"/>
              </a:ext>
            </a:extLst>
          </p:cNvPr>
          <p:cNvSpPr txBox="1"/>
          <p:nvPr/>
        </p:nvSpPr>
        <p:spPr>
          <a:xfrm>
            <a:off x="5712541" y="1559577"/>
            <a:ext cx="615499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800" b="1" dirty="0">
                <a:solidFill>
                  <a:schemeClr val="accent6">
                    <a:lumMod val="50000"/>
                  </a:schemeClr>
                </a:solidFill>
              </a:rPr>
              <a:t>Pairwise Plot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Income customers tend to have higher spending in categories like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MntWines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MntMeatProducts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although there is still a lot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spread (not all rich customers spend a lot).​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with higher Total web or store purchases usually have higher product spend, indicating that more active shoppers contribute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more revenue across channels.​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Response (campaign acceptance) tends to be 0 for most points, so accepted customers appear as a smaller subset in the scatterplots, often with slightly higher spend or engagement</a:t>
            </a:r>
            <a:r>
              <a:rPr lang="en-US" dirty="0"/>
              <a:t>.​</a:t>
            </a:r>
          </a:p>
        </p:txBody>
      </p:sp>
    </p:spTree>
    <p:extLst>
      <p:ext uri="{BB962C8B-B14F-4D97-AF65-F5344CB8AC3E}">
        <p14:creationId xmlns:p14="http://schemas.microsoft.com/office/powerpoint/2010/main" val="27456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1B2609-105A-2410-53B9-DA229548D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5152103"/>
            <a:ext cx="11493910" cy="1366683"/>
          </a:xfrm>
          <a:prstGeom prst="rect">
            <a:avLst/>
          </a:prstGeom>
          <a:gradFill>
            <a:gsLst>
              <a:gs pos="6000">
                <a:schemeClr val="accent1">
                  <a:lumMod val="5000"/>
                  <a:lumOff val="95000"/>
                </a:schemeClr>
              </a:gs>
              <a:gs pos="72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B9FC4-4B48-3447-F2D3-E803C6C37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43" y="1307690"/>
            <a:ext cx="11338441" cy="3628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8A850-21C0-DFDD-1B4A-AC150C17F678}"/>
              </a:ext>
            </a:extLst>
          </p:cNvPr>
          <p:cNvSpPr txBox="1"/>
          <p:nvPr/>
        </p:nvSpPr>
        <p:spPr>
          <a:xfrm>
            <a:off x="122573" y="311309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Model Building in Clustering</a:t>
            </a:r>
          </a:p>
        </p:txBody>
      </p:sp>
    </p:spTree>
    <p:extLst>
      <p:ext uri="{BB962C8B-B14F-4D97-AF65-F5344CB8AC3E}">
        <p14:creationId xmlns:p14="http://schemas.microsoft.com/office/powerpoint/2010/main" val="234871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4CF9-A388-3EEE-695F-A7DCE5E7F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413" y="747252"/>
            <a:ext cx="5850193" cy="5272548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K-Means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Creates clear and well-separated clusters.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 the highest score, so it performs the best among the three.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Agglomerative Clustering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Clusters are slightly overlapping.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Works well but separation is not as clear as K-Means.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GMM (Gaussian Mixture Model)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Forms more flexible clusters, but boundaries are less clear.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 the lowest score among the three methods.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Conclusion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K-Means gives the best customer segmentation for this dataset.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clusters can be used to identify different customer types and apply targeted marketing strategies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45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F5E0FB-B034-840C-4E2D-622FCB630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675" y="1572001"/>
            <a:ext cx="5189538" cy="4323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32F550-4B2D-1000-C3DC-AF433873CC2A}"/>
              </a:ext>
            </a:extLst>
          </p:cNvPr>
          <p:cNvSpPr txBox="1"/>
          <p:nvPr/>
        </p:nvSpPr>
        <p:spPr>
          <a:xfrm>
            <a:off x="668594" y="1046567"/>
            <a:ext cx="37460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Best Model DBSCAN is the clearly superior model here, achieving a remarkably high Silhouette Score of 0.9071 with 18 clusters.</a:t>
            </a:r>
          </a:p>
          <a:p>
            <a:r>
              <a:rPr lang="en-US" b="1" dirty="0">
                <a:solidFill>
                  <a:schemeClr val="bg1"/>
                </a:solidFill>
              </a:rPr>
              <a:t>Why it's the best: A Silhouette Score close to $+1$ indicates that the clusters are well-separated and that each point is assigned to a highly appropriate cluster. DBSCAN's density-based approach likely found natural, non-spherical groupings that the partition-based methods (K-Means) and model-based methods (GMM) missed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9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DDBFF39-5241-C902-DCCC-E2D043AA3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" y="875071"/>
            <a:ext cx="12192000" cy="5445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6D02EC-F073-943A-D89E-863D285B99DF}"/>
              </a:ext>
            </a:extLst>
          </p:cNvPr>
          <p:cNvSpPr txBox="1"/>
          <p:nvPr/>
        </p:nvSpPr>
        <p:spPr>
          <a:xfrm>
            <a:off x="210903" y="152400"/>
            <a:ext cx="6167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Decide Number of Clusters (k)</a:t>
            </a:r>
            <a:endParaRPr lang="en-IN" sz="2800" dirty="0">
              <a:solidFill>
                <a:schemeClr val="accent6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0073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5A4747-6F3F-F268-6B3D-19B00C2D7E97}"/>
              </a:ext>
            </a:extLst>
          </p:cNvPr>
          <p:cNvSpPr txBox="1"/>
          <p:nvPr/>
        </p:nvSpPr>
        <p:spPr>
          <a:xfrm>
            <a:off x="108857" y="2297729"/>
            <a:ext cx="9042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Elbow Method (Left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line shows how inertia (error) decreases as K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sharp drop is seen up to K = 4, after which the improvement slows.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point is called the “elbow”.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Choosing more than 4 clusters does not improve results much.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Silhouette Score (Right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silhouette score measures how well-separated the clusters 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score = better clustering.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score improves steadily after K = 4 and remains reasonable.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 = 4 gives a good balance between cluster separation and simplicity.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D35DD-80C3-328C-200C-845368189639}"/>
              </a:ext>
            </a:extLst>
          </p:cNvPr>
          <p:cNvSpPr txBox="1"/>
          <p:nvPr/>
        </p:nvSpPr>
        <p:spPr>
          <a:xfrm>
            <a:off x="108857" y="1277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figure helps us decide the best number of clusters (K) for K-Means using two methods.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567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50;p1" descr="A close up of a sign">
            <a:extLst>
              <a:ext uri="{FF2B5EF4-FFF2-40B4-BE49-F238E27FC236}">
                <a16:creationId xmlns:a16="http://schemas.microsoft.com/office/drawing/2014/main" id="{A9DAC696-AF05-6F0F-ADC5-6D0C74393E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82751" y="-11231"/>
            <a:ext cx="1468286" cy="646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F18C9A-57D8-5B46-2438-DAD381113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116" y="114519"/>
            <a:ext cx="8767427" cy="4616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D8E3D1-5DC5-382E-E0E4-089193BD9AB4}"/>
              </a:ext>
            </a:extLst>
          </p:cNvPr>
          <p:cNvSpPr txBox="1"/>
          <p:nvPr/>
        </p:nvSpPr>
        <p:spPr>
          <a:xfrm>
            <a:off x="65315" y="4879914"/>
            <a:ext cx="518885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graph shows the final customer segments after applying K-Means clustering (K = 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data is reduced to two dimensions (PC1 and PC2) using PCA to make it easy to visualize.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dot represents a customer, and each color represents a different customer segment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EABE8-6CB3-24E4-1053-D7101542B9B4}"/>
              </a:ext>
            </a:extLst>
          </p:cNvPr>
          <p:cNvSpPr txBox="1"/>
          <p:nvPr/>
        </p:nvSpPr>
        <p:spPr>
          <a:xfrm>
            <a:off x="5508570" y="4792828"/>
            <a:ext cx="6197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PC1 (26.56%): This is the "Wealth Axis." About 26% of your customer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is explained simply by how much money they have.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PC2 (8.77%): This is the "Engagement Axis." This 9% explains the difference between someone who visits the site to browse (Cluster 2) versus someone who visits to buy (Cluster 3).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BCCE7-38B3-7033-EE67-75735A840B05}"/>
              </a:ext>
            </a:extLst>
          </p:cNvPr>
          <p:cNvSpPr txBox="1"/>
          <p:nvPr/>
        </p:nvSpPr>
        <p:spPr>
          <a:xfrm>
            <a:off x="0" y="50325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Train  Models</a:t>
            </a:r>
          </a:p>
        </p:txBody>
      </p:sp>
    </p:spTree>
    <p:extLst>
      <p:ext uri="{BB962C8B-B14F-4D97-AF65-F5344CB8AC3E}">
        <p14:creationId xmlns:p14="http://schemas.microsoft.com/office/powerpoint/2010/main" val="1312573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914F-041A-EAD0-CB39-934FCA76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74" y="1366684"/>
            <a:ext cx="3299058" cy="599768"/>
          </a:xfrm>
        </p:spPr>
        <p:txBody>
          <a:bodyPr/>
          <a:lstStyle/>
          <a:p>
            <a:r>
              <a:rPr lang="en-IN" sz="3200" b="1" dirty="0">
                <a:latin typeface="Agency FB" panose="020B0503020202020204" pitchFamily="34" charset="0"/>
              </a:rPr>
              <a:t>Model Evaluation</a:t>
            </a:r>
            <a:br>
              <a:rPr lang="en-IN" sz="3200" b="1" u="sng" dirty="0">
                <a:latin typeface="Agency FB" panose="020B0503020202020204" pitchFamily="34" charset="0"/>
              </a:rPr>
            </a:br>
            <a:endParaRPr lang="en-IN" sz="3200" dirty="0">
              <a:latin typeface="Agency FB" panose="020B0503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0F1D0-F5D7-99C4-CB68-8BD26BCFA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6413" y="2428568"/>
            <a:ext cx="3480619" cy="3596311"/>
          </a:xfrm>
        </p:spPr>
        <p:txBody>
          <a:bodyPr/>
          <a:lstStyle/>
          <a:p>
            <a:r>
              <a:rPr lang="en-US" b="1" dirty="0"/>
              <a:t>Key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clusters are clearly separated, showing meaningful customer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Silhouette Score (0.55) indicates good-quality clustering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Each cluster represents a distinct customer type,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enabling more targeted marketing and personalization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Minimal overlap between clusters suggests lower confusion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and more reliable customer segmentation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8C07D9-013B-2B7D-F5F2-9788E7D0C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9586" y="1514168"/>
            <a:ext cx="6213987" cy="425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3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2EB5-02C2-7D3B-F146-4EADC464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1" y="1042220"/>
            <a:ext cx="3250022" cy="678425"/>
          </a:xfrm>
        </p:spPr>
        <p:txBody>
          <a:bodyPr/>
          <a:lstStyle/>
          <a:p>
            <a:r>
              <a:rPr lang="en-US" b="1" dirty="0"/>
              <a:t>Model Comparison 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0D191-1752-FAD2-CB71-17322CA48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915" y="1907458"/>
            <a:ext cx="3775587" cy="4117421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Tuned K-Means performs the best, achieving the highest Silhouette </a:t>
            </a:r>
            <a:r>
              <a:rPr lang="en-US" b="1" dirty="0">
                <a:solidFill>
                  <a:schemeClr val="bg1"/>
                </a:solidFill>
              </a:rPr>
              <a:t>Score (0.55), </a:t>
            </a:r>
            <a:r>
              <a:rPr lang="en-US" dirty="0">
                <a:solidFill>
                  <a:schemeClr val="bg1"/>
                </a:solidFill>
              </a:rPr>
              <a:t>indicating the most well-defined and reliable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Standard K-Means, Agglomerative, and GMM show only moderate clustering quality, slightly above the fair-structure threshold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DBSCAN performs the weakest, suggesting it struggles to identify clear customer groups in this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Model tuning significantly improves clustering performance, highlighting the importance of parameter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Based on cluster separation and quality, Tuned K-Means is the most suitable model for customer segmentation</a:t>
            </a:r>
          </a:p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A4C12D-8C6E-3ECF-03F2-EC2DE89F5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675" y="2453948"/>
            <a:ext cx="5189538" cy="255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7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A1B882-F5FB-67DC-D5EA-72D47916B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08" y="582759"/>
            <a:ext cx="10971818" cy="42298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47D3F7-51AE-9B14-079E-709D908F70F5}"/>
              </a:ext>
            </a:extLst>
          </p:cNvPr>
          <p:cNvSpPr txBox="1"/>
          <p:nvPr/>
        </p:nvSpPr>
        <p:spPr>
          <a:xfrm>
            <a:off x="98322" y="4857135"/>
            <a:ext cx="1209367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How the System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Input Data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Personal details: income, age, kids at home, teens at home, Day since last purchase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Product spending: wine, meat, fruits, fish, sweets, gold,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Channel engagement: web, catalog purchases, store purchases, web month, deals purchases, education level, marital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model processes these inputs and assigns each customer to one of four clusters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Each cluster represents a distinct spending and engagement pattern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656C5-736A-91DF-AA0A-05AD06665C61}"/>
              </a:ext>
            </a:extLst>
          </p:cNvPr>
          <p:cNvSpPr txBox="1"/>
          <p:nvPr/>
        </p:nvSpPr>
        <p:spPr>
          <a:xfrm>
            <a:off x="4290145" y="-57171"/>
            <a:ext cx="6120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965892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9AC70C-861F-C362-95D0-C79D25C5A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2" y="127713"/>
            <a:ext cx="10675868" cy="38543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0E0768-7196-ECE7-60B7-86AB3575EBAB}"/>
              </a:ext>
            </a:extLst>
          </p:cNvPr>
          <p:cNvSpPr txBox="1"/>
          <p:nvPr/>
        </p:nvSpPr>
        <p:spPr>
          <a:xfrm>
            <a:off x="128311" y="4142916"/>
            <a:ext cx="60969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use 4 clusters</a:t>
            </a:r>
          </a:p>
          <a:p>
            <a:pPr marL="342900" indent="-342900">
              <a:buAutoNum type="arabicPeriod"/>
            </a:pPr>
            <a:r>
              <a:rPr lang="en-US" dirty="0"/>
              <a:t>Premium </a:t>
            </a:r>
            <a:r>
              <a:rPr lang="en-US" dirty="0" err="1"/>
              <a:t>vip</a:t>
            </a:r>
            <a:r>
              <a:rPr lang="en-US" dirty="0"/>
              <a:t> spenders </a:t>
            </a:r>
          </a:p>
          <a:p>
            <a:pPr marL="342900" indent="-342900">
              <a:buAutoNum type="arabicPeriod"/>
            </a:pPr>
            <a:r>
              <a:rPr lang="en-US" dirty="0"/>
              <a:t>Steady Moderate spenders </a:t>
            </a:r>
          </a:p>
          <a:p>
            <a:pPr marL="342900" indent="-342900">
              <a:buAutoNum type="arabicPeriod"/>
            </a:pPr>
            <a:r>
              <a:rPr lang="en-US" dirty="0"/>
              <a:t>Value shoppers </a:t>
            </a:r>
          </a:p>
          <a:p>
            <a:pPr marL="342900" indent="-342900">
              <a:buAutoNum type="arabicPeriod"/>
            </a:pPr>
            <a:r>
              <a:rPr lang="en-US" dirty="0"/>
              <a:t>Digital online enthusiasts </a:t>
            </a:r>
            <a:endParaRPr lang="en-I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F9A88AB-F3ED-9666-5883-A728226AD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11" y="5594157"/>
            <a:ext cx="119353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assigns the customer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1: Premium VIP Spenders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based on high income and high spending, especially on premium products like wine and meat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customer shows recent activity and multi-channel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Recommended action: Offer exclusive deals, VIP programs, and premium catalogs</a:t>
            </a:r>
          </a:p>
        </p:txBody>
      </p:sp>
    </p:spTree>
    <p:extLst>
      <p:ext uri="{BB962C8B-B14F-4D97-AF65-F5344CB8AC3E}">
        <p14:creationId xmlns:p14="http://schemas.microsoft.com/office/powerpoint/2010/main" val="764877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0EF88-D7F7-7223-0D69-BACE1D586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618" y="118378"/>
            <a:ext cx="5956382" cy="4732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6D1E83-49A0-8337-50F2-10BC9B6B4B1B}"/>
              </a:ext>
            </a:extLst>
          </p:cNvPr>
          <p:cNvSpPr txBox="1"/>
          <p:nvPr/>
        </p:nvSpPr>
        <p:spPr>
          <a:xfrm>
            <a:off x="128312" y="5045492"/>
            <a:ext cx="11281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Change The Input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assigns the customer to </a:t>
            </a:r>
            <a:r>
              <a:rPr lang="en-US" b="1" dirty="0"/>
              <a:t>Cluster 2: Steady Moderate Spenders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customer has average income with consistent, moderate spending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Mostly reliable store shoppers with balanced purchase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Recommended action: Loyalty programs, repeat-purchase offers, and refer-a-friend campaigns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0D4C98-6B74-F6DA-F76A-AC4A8BC64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12" y="118378"/>
            <a:ext cx="6046839" cy="473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65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7C48-E110-9E14-FEEF-EFD86253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  <a:cs typeface="Times New Roman" panose="02020603050405020304" pitchFamily="18" charset="0"/>
              </a:rPr>
              <a:t>Challenges Faced During the Project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5D2AE-1516-A082-6545-1DC6348E7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electing the right features to create meaningful customer segments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Ensuring clean, scaled, and consistent data across training and deployment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Choosing the optimal number of clusters with both technical and business relevance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Translating technical cluster results into clear business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264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448E-1B9A-F1A0-BA1E-4B46F3D7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58760"/>
            <a:ext cx="5789612" cy="536103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Business Use of This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Enables personalized marketing campaigns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Improves customer retention and loyalty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Helps focus on high-value customers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Optimizes marketing cost and ROI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Supports better business decision-making</a:t>
            </a:r>
          </a:p>
          <a:p>
            <a:pPr>
              <a:buNone/>
            </a:pPr>
            <a:br>
              <a:rPr lang="en-US" dirty="0"/>
            </a:br>
            <a:endParaRPr lang="en-US" u="sng" dirty="0">
              <a:latin typeface="Arial Black" panose="020B0A04020102020204" pitchFamily="34" charset="0"/>
            </a:endParaRPr>
          </a:p>
          <a:p>
            <a:pPr>
              <a:buNone/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Why This System Is Needed</a:t>
            </a:r>
          </a:p>
          <a:p>
            <a:pPr>
              <a:buNone/>
            </a:pPr>
            <a:endParaRPr lang="en-US" b="1" u="sng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Customers behave differently in terms of spending and engagement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one-size-fits-all strategy does not work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business needs a data-driven way to understand customer behavior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480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50;p1" descr="A close up of a sign">
            <a:extLst>
              <a:ext uri="{FF2B5EF4-FFF2-40B4-BE49-F238E27FC236}">
                <a16:creationId xmlns:a16="http://schemas.microsoft.com/office/drawing/2014/main" id="{BE83D9AC-2B90-CEC8-149C-4A0DF26552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34867" y="93132"/>
            <a:ext cx="4034560" cy="6463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413FE-1C5E-77BF-BCF3-4BF8BFC55194}"/>
              </a:ext>
            </a:extLst>
          </p:cNvPr>
          <p:cNvSpPr txBox="1"/>
          <p:nvPr/>
        </p:nvSpPr>
        <p:spPr>
          <a:xfrm>
            <a:off x="381000" y="838200"/>
            <a:ext cx="106087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latin typeface="Algerian" panose="04020705040A02060702" pitchFamily="82" charset="0"/>
              </a:rPr>
              <a:t>		</a:t>
            </a:r>
            <a:r>
              <a:rPr lang="en-US" sz="150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THANK</a:t>
            </a:r>
            <a:r>
              <a:rPr lang="en-US" sz="15000" dirty="0">
                <a:latin typeface="Algerian" panose="04020705040A02060702" pitchFamily="82" charset="0"/>
              </a:rPr>
              <a:t> </a:t>
            </a:r>
          </a:p>
          <a:p>
            <a:r>
              <a:rPr lang="en-US" sz="15000" dirty="0">
                <a:latin typeface="Algerian" panose="04020705040A02060702" pitchFamily="82" charset="0"/>
              </a:rPr>
              <a:t>				</a:t>
            </a:r>
            <a:r>
              <a:rPr lang="en-US" sz="150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YOU</a:t>
            </a:r>
            <a:endParaRPr lang="en-IN" sz="15000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280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</TotalTime>
  <Words>1357</Words>
  <Application>Microsoft Office PowerPoint</Application>
  <PresentationFormat>Widescreen</PresentationFormat>
  <Paragraphs>158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Agency FB</vt:lpstr>
      <vt:lpstr>Algerian</vt:lpstr>
      <vt:lpstr>Arial</vt:lpstr>
      <vt:lpstr>Arial Black</vt:lpstr>
      <vt:lpstr>Arial Narrow</vt:lpstr>
      <vt:lpstr>Calibri</vt:lpstr>
      <vt:lpstr>Century Gothic</vt:lpstr>
      <vt:lpstr>Times New Roman</vt:lpstr>
      <vt:lpstr>Wingdings</vt:lpstr>
      <vt:lpstr>Wingdings 3</vt:lpstr>
      <vt:lpstr>Ion Boardroom</vt:lpstr>
      <vt:lpstr>Project: CLUSTERING</vt:lpstr>
      <vt:lpstr>OBJECTIVE</vt:lpstr>
      <vt:lpstr>DATASET DETAILS </vt:lpstr>
      <vt:lpstr>PowerPoint Presentation</vt:lpstr>
      <vt:lpstr>PowerPoint Presentation</vt:lpstr>
      <vt:lpstr>CORRELATION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Evaluation </vt:lpstr>
      <vt:lpstr>Model Comparison  </vt:lpstr>
      <vt:lpstr>PowerPoint Presentation</vt:lpstr>
      <vt:lpstr>PowerPoint Presentation</vt:lpstr>
      <vt:lpstr>PowerPoint Presentation</vt:lpstr>
      <vt:lpstr>Challenges Faced During the Project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Vaishanvi Salve</dc:creator>
  <cp:lastModifiedBy>Vaishanvi Salve</cp:lastModifiedBy>
  <cp:revision>2</cp:revision>
  <dcterms:created xsi:type="dcterms:W3CDTF">2026-01-03T04:15:10Z</dcterms:created>
  <dcterms:modified xsi:type="dcterms:W3CDTF">2026-01-12T07:55:12Z</dcterms:modified>
</cp:coreProperties>
</file>